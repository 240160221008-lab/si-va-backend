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_clean_pastel_abstract_stationery_background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83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18872" cy="685800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37744" y="0"/>
            <a:ext cx="118872" cy="6858000"/>
          </a:xfrm>
          <a:prstGeom prst="rect">
            <a:avLst/>
          </a:prstGeom>
          <a:solidFill>
            <a:srgbClr val="F5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7132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2226"/>
                </a:solidFill>
                <a:latin typeface="Aptos"/>
              </a:rPr>
              <a:t>BEDAH WEB DESAIN 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719072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1306C"/>
                </a:solidFill>
                <a:latin typeface="Aptos"/>
              </a:rPr>
              <a:t>STUDI KASUS INSTAGRAM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9572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70"/>
                </a:solidFill>
                <a:latin typeface="Aptos"/>
              </a:rPr>
              <a:t>Pemrograman Back 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34440"/>
            <a:ext cx="2377440" cy="2377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B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49640" y="1673352"/>
            <a:ext cx="1554480" cy="1234440"/>
          </a:xfrm>
          <a:prstGeom prst="roundRect">
            <a:avLst/>
          </a:prstGeom>
          <a:noFill/>
          <a:ln w="31750">
            <a:solidFill>
              <a:srgbClr val="E13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988552" y="1984248"/>
            <a:ext cx="658368" cy="658368"/>
          </a:xfrm>
          <a:prstGeom prst="ellipse">
            <a:avLst/>
          </a:prstGeom>
          <a:noFill/>
          <a:ln w="31750">
            <a:solidFill>
              <a:srgbClr val="833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56648" y="1856231"/>
            <a:ext cx="137160" cy="137160"/>
          </a:xfrm>
          <a:prstGeom prst="ellipse">
            <a:avLst/>
          </a:prstGeom>
          <a:solidFill>
            <a:srgbClr val="F5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4069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96970"/>
                </a:solidFill>
                <a:latin typeface="Aptos"/>
              </a:rPr>
              <a:t>ANGGOTA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434840"/>
            <a:ext cx="5943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6"/>
                </a:solidFill>
                <a:latin typeface="Aptos"/>
              </a:rPr>
              <a:t>Aldi Restu Fauzi — 240160221001
Khoirunnisa Shaleha — 240160221018
Resa Khoerunnisa — 240160221038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9697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_clean_pastel_abstract_stationery_background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47548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226"/>
                </a:solidFill>
                <a:latin typeface="Aptos"/>
              </a:rPr>
              <a:t>TUJUAN PEMBAHASAN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2057400"/>
            <a:ext cx="9692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22226"/>
                </a:solidFill>
                <a:latin typeface="Aptos"/>
              </a:rPr>
              <a:t>1. Mengidentifikasi interaksi pengguna pada aplikasi Instagram.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15768"/>
            <a:ext cx="9692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22226"/>
                </a:solidFill>
                <a:latin typeface="Aptos"/>
              </a:rPr>
              <a:t>2. Menganalisis kemungkinan HTTP method yang digunakan.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374136"/>
            <a:ext cx="9692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22226"/>
                </a:solidFill>
                <a:latin typeface="Aptos"/>
              </a:rPr>
              <a:t>3. Mengidentifikasi endpoint dan data yang dikirim/diterima.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032504"/>
            <a:ext cx="9692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22226"/>
                </a:solidFill>
                <a:latin typeface="Aptos"/>
              </a:rPr>
              <a:t>4. Merancang API Instagram berdasarkan prinsip REST.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690872"/>
            <a:ext cx="9692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22226"/>
                </a:solidFill>
                <a:latin typeface="Aptos"/>
              </a:rPr>
              <a:t>5. Menentukan method, endpoint, request body, dan status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9697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_clean_pastel_abstract_stationery_background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47548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226"/>
                </a:solidFill>
                <a:latin typeface="Aptos"/>
              </a:rPr>
              <a:t>BEDAH KASUS INSTAGRAM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E1306C"/>
                </a:solidFill>
                <a:latin typeface="Aptos"/>
              </a:rPr>
              <a:t>1. Melihat postingan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63240" y="160020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22226"/>
                </a:solidFill>
                <a:latin typeface="Aptos"/>
              </a:rPr>
              <a:t>Pengguna melihat postingan yang muncul pada beranda.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67128"/>
            <a:ext cx="1014984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E1306C"/>
                </a:solidFill>
                <a:latin typeface="Aptos"/>
              </a:rPr>
              <a:t>2. Melihat profil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2441448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22226"/>
                </a:solidFill>
                <a:latin typeface="Aptos"/>
              </a:rPr>
              <a:t>Pengguna membuka profil untuk melihat informasi dan postingan pengguna.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08376"/>
            <a:ext cx="1014984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82696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E1306C"/>
                </a:solidFill>
                <a:latin typeface="Aptos"/>
              </a:rPr>
              <a:t>3. Membuat postingan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282696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22226"/>
                </a:solidFill>
                <a:latin typeface="Aptos"/>
              </a:rPr>
              <a:t>Pengguna mengunggah foto/video dan menambahkan caption.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849624"/>
            <a:ext cx="1014984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123944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E1306C"/>
                </a:solidFill>
                <a:latin typeface="Aptos"/>
              </a:rPr>
              <a:t>4. Menambahkan komentar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4123944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22226"/>
                </a:solidFill>
                <a:latin typeface="Aptos"/>
              </a:rPr>
              <a:t>Pengguna menulis dan mengirim komentar pada sebuah postingan.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690872"/>
            <a:ext cx="1014984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965192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E1306C"/>
                </a:solidFill>
                <a:latin typeface="Aptos"/>
              </a:rPr>
              <a:t>5. Memberikan like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4965192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22226"/>
                </a:solidFill>
                <a:latin typeface="Aptos"/>
              </a:rPr>
              <a:t>Pengguna memberikan like pada postingan.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532120"/>
            <a:ext cx="1014984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01852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9697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_clean_pastel_abstract_stationery_background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47548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226"/>
                </a:solidFill>
                <a:latin typeface="Aptos"/>
              </a:rPr>
              <a:t>INTERAKSI, METHOD, ENDPOINT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Endpoint pada tabel merupakan rancangan/ilustrasi untuk kebutuhan pembelajaran.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00200"/>
          <a:ext cx="111556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Interaksi</a:t>
                      </a:r>
                    </a:p>
                  </a:txBody>
                  <a:tcPr marL="82296" marR="64008" anchor="ctr">
                    <a:solidFill>
                      <a:srgbClr val="2222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marL="82296" marR="64008" anchor="ctr">
                    <a:solidFill>
                      <a:srgbClr val="2222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Endpoint (Perkiraan)</a:t>
                      </a:r>
                    </a:p>
                  </a:txBody>
                  <a:tcPr marL="82296" marR="64008" anchor="ctr">
                    <a:solidFill>
                      <a:srgbClr val="2222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Data</a:t>
                      </a:r>
                    </a:p>
                  </a:txBody>
                  <a:tcPr marL="82296" marR="64008" anchor="ctr">
                    <a:solidFill>
                      <a:srgbClr val="2222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82296" marR="64008" anchor="ctr">
                    <a:solidFill>
                      <a:srgbClr val="222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Lihat postingan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GET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/instagram/v1/posts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-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200 OK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Lihat profil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GET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/instagram/v1/users/{id}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ID pengguna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200 OK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Buat postingan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POST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/instagram/v1/posts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Foto, caption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201 Created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Tambah komentar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POST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/instagram/v1/posts/{id}/comments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Isi komentar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201 Created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Like postingan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POST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/instagram/v1/posts/{id}/likes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ID postingan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6"/>
                          </a:solidFill>
                          <a:latin typeface="Aptos"/>
                        </a:rPr>
                        <a:t>201 Created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1852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9697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_clean_pastel_abstract_stationery_background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47548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226"/>
                </a:solidFill>
                <a:latin typeface="Aptos"/>
              </a:rPr>
              <a:t>PEMETAAN HTTP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7276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833AB4"/>
                </a:solidFill>
                <a:latin typeface="Aptos"/>
              </a:rPr>
              <a:t>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572768"/>
            <a:ext cx="4023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22226"/>
                </a:solidFill>
                <a:latin typeface="Aptos"/>
              </a:rPr>
              <a:t>Digunakan untuk mengambil atau membaca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72768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6970"/>
                </a:solidFill>
                <a:latin typeface="Aptos"/>
              </a:rPr>
              <a:t>Contoh: melihat postingan, melihat profil.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22576"/>
            <a:ext cx="1024128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71576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1306C"/>
                </a:solidFill>
                <a:latin typeface="Aptos"/>
              </a:rPr>
              <a:t>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715768"/>
            <a:ext cx="4023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22226"/>
                </a:solidFill>
                <a:latin typeface="Aptos"/>
              </a:rPr>
              <a:t>Digunakan untuk membuat data atau melakukan proses baru.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15768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6970"/>
                </a:solidFill>
                <a:latin typeface="Aptos"/>
              </a:rPr>
              <a:t>Contoh: membuat postingan, menambahkan komentar, memberikan like.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465575"/>
            <a:ext cx="1024128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85876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56040"/>
                </a:solidFill>
                <a:latin typeface="Aptos"/>
              </a:rPr>
              <a:t>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858768"/>
            <a:ext cx="4023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22226"/>
                </a:solidFill>
                <a:latin typeface="Aptos"/>
              </a:rPr>
              <a:t>Digunakan untuk mengubah sebagian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858768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6970"/>
                </a:solidFill>
                <a:latin typeface="Aptos"/>
              </a:rPr>
              <a:t>Contoh: mengubah informasi profil atau caption.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608576"/>
            <a:ext cx="1024128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00176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22226"/>
                </a:solidFill>
                <a:latin typeface="Aptos"/>
              </a:rPr>
              <a:t>DELETE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001768"/>
            <a:ext cx="4023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22226"/>
                </a:solidFill>
                <a:latin typeface="Aptos"/>
              </a:rPr>
              <a:t>Digunakan untuk menghapus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001768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6970"/>
                </a:solidFill>
                <a:latin typeface="Aptos"/>
              </a:rPr>
              <a:t>Contoh: menghapus komentar atau postingan.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751576"/>
            <a:ext cx="1024128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01852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9697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_clean_pastel_abstract_stationery_background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47548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226"/>
                </a:solidFill>
                <a:latin typeface="Aptos"/>
              </a:rPr>
              <a:t>STRUKTUR ENDPOINT REST API INSTAGRAM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0200"/>
            <a:ext cx="1069848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20116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96970"/>
                </a:solidFill>
                <a:latin typeface="Aptos"/>
              </a:rPr>
              <a:t>Contoh: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423160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1306C"/>
                </a:solidFill>
                <a:latin typeface="Aptos"/>
              </a:rPr>
              <a:t>/instagram/v1/posts/{id}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24612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33AB4"/>
                </a:solidFill>
                <a:latin typeface="Aptos"/>
              </a:rPr>
              <a:t>/instagram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324612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22226"/>
                </a:solidFill>
                <a:latin typeface="Aptos"/>
              </a:rPr>
              <a:t>bagian awal alamat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7647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33AB4"/>
                </a:solidFill>
                <a:latin typeface="Aptos"/>
              </a:rPr>
              <a:t>/v1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776472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22226"/>
                </a:solidFill>
                <a:latin typeface="Aptos"/>
              </a:rPr>
              <a:t>versi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06824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33AB4"/>
                </a:solidFill>
                <a:latin typeface="Aptos"/>
              </a:rPr>
              <a:t>/posts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4306824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22226"/>
                </a:solidFill>
                <a:latin typeface="Aptos"/>
              </a:rPr>
              <a:t>resource yang digunakan, yaitu postingan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837175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33AB4"/>
                </a:solidFill>
                <a:latin typeface="Aptos"/>
              </a:rPr>
              <a:t>{id}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837175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22226"/>
                </a:solidFill>
                <a:latin typeface="Aptos"/>
              </a:rPr>
              <a:t>identitas postingan tertentu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94960"/>
            <a:ext cx="9326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22226"/>
                </a:solidFill>
                <a:latin typeface="Aptos"/>
              </a:rPr>
              <a:t>Contoh penggunaan:  GET /instagram/v1/posts/123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9697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_clean_pastel_abstract_stationery_background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47548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226"/>
                </a:solidFill>
                <a:latin typeface="Aptos"/>
              </a:rPr>
              <a:t>REQUEST &amp; RESPONSE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132588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22226"/>
                </a:solidFill>
                <a:latin typeface="Aptos"/>
              </a:rPr>
              <a:t>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57276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96970"/>
                </a:solidFill>
                <a:latin typeface="Apto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417320"/>
            <a:ext cx="132588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160020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22226"/>
                </a:solidFill>
                <a:latin typeface="Aptos"/>
              </a:rPr>
              <a:t>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57276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9697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132588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160020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22226"/>
                </a:solidFill>
                <a:latin typeface="Aptos"/>
              </a:rPr>
              <a:t>REST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57276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96970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17320"/>
            <a:ext cx="132588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22226"/>
                </a:solidFill>
                <a:latin typeface="Aptos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57276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96970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417320"/>
            <a:ext cx="132588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32520" y="160020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22226"/>
                </a:solidFill>
                <a:latin typeface="Aptos"/>
              </a:rPr>
              <a:t>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20" y="157276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9697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0" y="1417320"/>
            <a:ext cx="132588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0" y="160020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22226"/>
                </a:solidFill>
                <a:latin typeface="Aptos"/>
              </a:rPr>
              <a:t>CLIENT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514600"/>
            <a:ext cx="5166360" cy="2743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27889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1306C"/>
                </a:solidFill>
                <a:latin typeface="Aptos"/>
              </a:rPr>
              <a:t>CONTOH 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24612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22226"/>
                </a:solidFill>
                <a:latin typeface="Aptos"/>
              </a:rPr>
              <a:t>GET /instagram/v1/posts/123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514600"/>
            <a:ext cx="5166360" cy="2743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2788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33AB4"/>
                </a:solidFill>
                <a:latin typeface="Aptos"/>
              </a:rPr>
              <a:t>CONTOH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200400"/>
            <a:ext cx="42976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226"/>
                </a:solidFill>
                <a:latin typeface="Aptos"/>
              </a:rPr>
              <a:t>{
  "id": 123,
  "caption": "Belajar REST API",
  "likes": 120
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46811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Client meminta data postingan dengan ID 123, kemudian server mengembalikan informasi postingan kepada client.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9697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_clean_pastel_abstract_stationery_background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47548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226"/>
                </a:solidFill>
                <a:latin typeface="Aptos"/>
              </a:rPr>
              <a:t>HTTP STATUS CODE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54480"/>
          <a:ext cx="102870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Status Code</a:t>
                      </a:r>
                    </a:p>
                  </a:txBody>
                  <a:tcPr marL="82296" marR="64008" anchor="ctr">
                    <a:solidFill>
                      <a:srgbClr val="2222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Arti</a:t>
                      </a:r>
                    </a:p>
                  </a:txBody>
                  <a:tcPr marL="82296" marR="64008" anchor="ctr">
                    <a:solidFill>
                      <a:srgbClr val="2222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Contoh</a:t>
                      </a:r>
                    </a:p>
                  </a:txBody>
                  <a:tcPr marL="82296" marR="64008" anchor="ctr">
                    <a:solidFill>
                      <a:srgbClr val="222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6"/>
                          </a:solidFill>
                          <a:latin typeface="Aptos"/>
                        </a:rPr>
                        <a:t>200 OK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6"/>
                          </a:solidFill>
                          <a:latin typeface="Aptos"/>
                        </a:rPr>
                        <a:t>Request berhasil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6"/>
                          </a:solidFill>
                          <a:latin typeface="Aptos"/>
                        </a:rPr>
                        <a:t>Melihat postingan / profil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6"/>
                          </a:solidFill>
                          <a:latin typeface="Aptos"/>
                        </a:rPr>
                        <a:t>201 Created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6"/>
                          </a:solidFill>
                          <a:latin typeface="Aptos"/>
                        </a:rPr>
                        <a:t>Data berhasil dibuat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6"/>
                          </a:solidFill>
                          <a:latin typeface="Aptos"/>
                        </a:rPr>
                        <a:t>Membuat postingan / komentar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6"/>
                          </a:solidFill>
                          <a:latin typeface="Aptos"/>
                        </a:rPr>
                        <a:t>204 No Content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6"/>
                          </a:solidFill>
                          <a:latin typeface="Aptos"/>
                        </a:rPr>
                        <a:t>Berhasil tanpa response body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6"/>
                          </a:solidFill>
                          <a:latin typeface="Aptos"/>
                        </a:rPr>
                        <a:t>Menghapus data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6"/>
                          </a:solidFill>
                          <a:latin typeface="Aptos"/>
                        </a:rPr>
                        <a:t>400 Bad Request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6"/>
                          </a:solidFill>
                          <a:latin typeface="Aptos"/>
                        </a:rPr>
                        <a:t>Request tidak valid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6"/>
                          </a:solidFill>
                          <a:latin typeface="Aptos"/>
                        </a:rPr>
                        <a:t>Parameter request salah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6"/>
                          </a:solidFill>
                          <a:latin typeface="Aptos"/>
                        </a:rPr>
                        <a:t>404 Not Found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6"/>
                          </a:solidFill>
                          <a:latin typeface="Aptos"/>
                        </a:rPr>
                        <a:t>Data tidak ditemukan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6"/>
                          </a:solidFill>
                          <a:latin typeface="Aptos"/>
                        </a:rPr>
                        <a:t>Postingan tidak tersedia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6"/>
                          </a:solidFill>
                          <a:latin typeface="Aptos"/>
                        </a:rPr>
                        <a:t>500 Internal Server Error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6"/>
                          </a:solidFill>
                          <a:latin typeface="Aptos"/>
                        </a:rPr>
                        <a:t>Kesalahan server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6"/>
                          </a:solidFill>
                          <a:latin typeface="Aptos"/>
                        </a:rPr>
                        <a:t>Server mengalami masalah</a:t>
                      </a:r>
                    </a:p>
                  </a:txBody>
                  <a:tcPr marL="82296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01852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9697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_clean_pastel_abstract_stationery_background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47548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226"/>
                </a:solidFill>
                <a:latin typeface="Aptos"/>
              </a:rPr>
              <a:t>APAKAH RANCANGAN SUDAH RESTFUL?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087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226"/>
                </a:solidFill>
                <a:latin typeface="Aptos"/>
              </a:rPr>
              <a:t>Resource yang digunakan: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96596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833AB4"/>
                </a:solidFill>
                <a:latin typeface="Aptos"/>
              </a:rPr>
              <a:t>/instagram/v1/posts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42316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833AB4"/>
                </a:solidFill>
                <a:latin typeface="Aptos"/>
              </a:rPr>
              <a:t>/instagram/v1/users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8036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833AB4"/>
                </a:solidFill>
                <a:latin typeface="Aptos"/>
              </a:rPr>
              <a:t>/instagram/v1/comments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50876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226"/>
                </a:solidFill>
                <a:latin typeface="Aptos"/>
              </a:rPr>
              <a:t>HTTP Method digunakan untuk menentukan operasi: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96596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22226"/>
                </a:solidFill>
                <a:latin typeface="Aptos"/>
              </a:rPr>
              <a:t>GET → mengambil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42316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22226"/>
                </a:solidFill>
                <a:latin typeface="Aptos"/>
              </a:rPr>
              <a:t>POST → membuat data/proses baru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88036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22226"/>
                </a:solidFill>
                <a:latin typeface="Aptos"/>
              </a:rPr>
              <a:t>PATCH → mengubah sebagian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33756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22226"/>
                </a:solidFill>
                <a:latin typeface="Aptos"/>
              </a:rPr>
              <a:t>DELETE → menghapus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40480"/>
            <a:ext cx="10241280" cy="1600200"/>
          </a:xfrm>
          <a:prstGeom prst="roundRect">
            <a:avLst/>
          </a:prstGeom>
          <a:solidFill>
            <a:srgbClr val="F7F1F6"/>
          </a:solidFill>
          <a:ln w="10160">
            <a:solidFill>
              <a:srgbClr val="EB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4160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1306C"/>
                </a:solidFill>
                <a:latin typeface="Aptos"/>
              </a:rPr>
              <a:t>Kurang sesuai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55371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226"/>
                </a:solidFill>
                <a:latin typeface="Aptos"/>
              </a:rPr>
              <a:t>POST /instagram/v1/getPosts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4160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33AB4"/>
                </a:solidFill>
                <a:latin typeface="Aptos"/>
              </a:rPr>
              <a:t>Lebih sesuai dengan prinsip REST: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455371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226"/>
                </a:solidFill>
                <a:latin typeface="Aptos"/>
              </a:rPr>
              <a:t>GET /instagram/v1/posts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9697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_clean_pastel_abstract_stationery_background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47548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226"/>
                </a:solidFill>
                <a:latin typeface="Aptos"/>
              </a:rPr>
              <a:t>KESIMPULAN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78308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1306C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9418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222226"/>
                </a:solidFill>
                <a:latin typeface="Aptos"/>
              </a:rPr>
              <a:t>Berdasarkan analisis terhadap aplikasi Instagram, terdapat berbagai interaksi pengguna yang dapat dipetakan ke dalam REST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7744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1306C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50008"/>
            <a:ext cx="9418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222226"/>
                </a:solidFill>
                <a:latin typeface="Aptos"/>
              </a:rPr>
              <a:t>Setiap interaksi dapat menggunakan HTTP Method sesuai dengan kebutuhan.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7180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1306C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44368"/>
            <a:ext cx="9418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222226"/>
                </a:solidFill>
                <a:latin typeface="Aptos"/>
              </a:rPr>
              <a:t>Endpoint digunakan untuk mengakses resource seperti postingan, pengguna, komentar, dan like.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6616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1306C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538728"/>
            <a:ext cx="9418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222226"/>
                </a:solidFill>
                <a:latin typeface="Aptos"/>
              </a:rPr>
              <a:t>Data dapat dikirim melalui request dan dikembalikan melalui response.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1605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1306C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33087"/>
            <a:ext cx="9418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222226"/>
                </a:solidFill>
                <a:latin typeface="Aptos"/>
              </a:rPr>
              <a:t>HTTP Status Code digunakan untuk menunjukkan hasil dari request.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75488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1306C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727448"/>
            <a:ext cx="9418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222226"/>
                </a:solidFill>
                <a:latin typeface="Aptos"/>
              </a:rPr>
              <a:t>Rancangan endpoint menggunakan resource dan HTTP Method sehingga mengikuti konsep dasar RESTful API.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144768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96970"/>
                </a:solidFill>
                <a:latin typeface="Aptos"/>
              </a:rPr>
              <a:t>ALUR UTAMA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6099048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22226"/>
                </a:solidFill>
                <a:latin typeface="Aptos"/>
              </a:rPr>
              <a:t>Interaksi Pengguna  →  Request  →  REST API  →  Database  → 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9697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_clean_pastel_abstract_stationery_background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20574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222226"/>
                </a:solidFill>
                <a:latin typeface="Aptos"/>
              </a:rPr>
              <a:t>TERIMA KASIH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1306C"/>
                </a:solidFill>
                <a:latin typeface="Aptos"/>
              </a:rPr>
              <a:t>BEDAH WEB DESAIN 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96970"/>
                </a:solidFill>
                <a:latin typeface="Aptos"/>
              </a:rPr>
              <a:t>Studi Kasus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749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96970"/>
                </a:solidFill>
                <a:latin typeface="Aptos"/>
              </a:rPr>
              <a:t>Pemrograman Back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9697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693</Words>
  <Application>Microsoft Office PowerPoint</Application>
  <PresentationFormat>Widescreen</PresentationFormat>
  <Paragraphs>162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 proobook 430 G5</dc:creator>
  <cp:keywords/>
  <dc:description>generated using python-pptx</dc:description>
  <cp:lastModifiedBy>hp proobook 430 G5</cp:lastModifiedBy>
  <cp:revision>2</cp:revision>
  <dcterms:created xsi:type="dcterms:W3CDTF">2013-01-27T09:14:16Z</dcterms:created>
  <dcterms:modified xsi:type="dcterms:W3CDTF">2026-10-02T03:47:33Z</dcterms:modified>
  <cp:category/>
</cp:coreProperties>
</file>